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League Spartan" charset="1" panose="00000800000000000000"/>
      <p:regular r:id="rId20"/>
    </p:embeddedFont>
    <p:embeddedFont>
      <p:font typeface="Glacial Indifference" charset="1" panose="00000000000000000000"/>
      <p:regular r:id="rId21"/>
    </p:embeddedFont>
    <p:embeddedFont>
      <p:font typeface="Glacial Indifference Bold" charset="1" panose="00000800000000000000"/>
      <p:regular r:id="rId22"/>
    </p:embeddedFont>
    <p:embeddedFont>
      <p:font typeface="Canva Sans Bold" charset="1" panose="020B0803030501040103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28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9.jpe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402500" y="2754629"/>
            <a:ext cx="24133295" cy="368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7"/>
              </a:lnSpc>
            </a:pPr>
            <a:r>
              <a:rPr lang="en-US" sz="10612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Titanic </a:t>
            </a:r>
          </a:p>
          <a:p>
            <a:pPr algn="ctr">
              <a:lnSpc>
                <a:spcPts val="1485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783079" y="4612936"/>
            <a:ext cx="10706968" cy="7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2"/>
              </a:lnSpc>
            </a:pPr>
            <a:r>
              <a:rPr lang="en-US" sz="4430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</a:t>
            </a:r>
            <a:r>
              <a:rPr lang="en-US" sz="4430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tu étais là, est-ce que tu survivrais ?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3192010" y="8041883"/>
            <a:ext cx="4937760" cy="4937760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true" flipV="false" rot="-659731">
            <a:off x="1082253" y="6528956"/>
            <a:ext cx="5948918" cy="3848815"/>
          </a:xfrm>
          <a:custGeom>
            <a:avLst/>
            <a:gdLst/>
            <a:ahLst/>
            <a:cxnLst/>
            <a:rect r="r" b="b" t="t" l="l"/>
            <a:pathLst>
              <a:path h="3848815" w="5948918">
                <a:moveTo>
                  <a:pt x="5948917" y="0"/>
                </a:moveTo>
                <a:lnTo>
                  <a:pt x="0" y="0"/>
                </a:lnTo>
                <a:lnTo>
                  <a:pt x="0" y="3848815"/>
                </a:lnTo>
                <a:lnTo>
                  <a:pt x="5948917" y="3848815"/>
                </a:lnTo>
                <a:lnTo>
                  <a:pt x="59489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90047" y="752116"/>
            <a:ext cx="3300973" cy="3300973"/>
          </a:xfrm>
          <a:custGeom>
            <a:avLst/>
            <a:gdLst/>
            <a:ahLst/>
            <a:cxnLst/>
            <a:rect r="r" b="b" t="t" l="l"/>
            <a:pathLst>
              <a:path h="3300973" w="3300973">
                <a:moveTo>
                  <a:pt x="0" y="0"/>
                </a:moveTo>
                <a:lnTo>
                  <a:pt x="3300972" y="0"/>
                </a:lnTo>
                <a:lnTo>
                  <a:pt x="3300972" y="3300972"/>
                </a:lnTo>
                <a:lnTo>
                  <a:pt x="0" y="33009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964337" y="7291756"/>
            <a:ext cx="7595907" cy="4172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2996" b="true">
                <a:solidFill>
                  <a:srgbClr val="36333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Fait par </a:t>
            </a:r>
            <a:r>
              <a:rPr lang="en-US" sz="2996" b="true">
                <a:solidFill>
                  <a:srgbClr val="36333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: </a:t>
            </a:r>
          </a:p>
          <a:p>
            <a:pPr algn="l">
              <a:lnSpc>
                <a:spcPts val="4194"/>
              </a:lnSpc>
            </a:pPr>
            <a:r>
              <a:rPr lang="en-US" sz="2996" b="true">
                <a:solidFill>
                  <a:srgbClr val="36333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-Salma Jallam </a:t>
            </a:r>
          </a:p>
          <a:p>
            <a:pPr algn="l">
              <a:lnSpc>
                <a:spcPts val="4194"/>
              </a:lnSpc>
            </a:pPr>
            <a:r>
              <a:rPr lang="en-US" sz="2996" b="true">
                <a:solidFill>
                  <a:srgbClr val="36333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-Khadija Jazouli </a:t>
            </a:r>
          </a:p>
          <a:p>
            <a:pPr algn="l">
              <a:lnSpc>
                <a:spcPts val="4194"/>
              </a:lnSpc>
            </a:pPr>
            <a:r>
              <a:rPr lang="en-US" sz="2996" b="true">
                <a:solidFill>
                  <a:srgbClr val="36333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-Mariem Sidi </a:t>
            </a:r>
          </a:p>
          <a:p>
            <a:pPr algn="l">
              <a:lnSpc>
                <a:spcPts val="4194"/>
              </a:lnSpc>
            </a:pPr>
            <a:r>
              <a:rPr lang="en-US" sz="2996" b="true">
                <a:solidFill>
                  <a:srgbClr val="36333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-TOUOYEM NGOUEGHEU Joyce Fortuna</a:t>
            </a:r>
          </a:p>
          <a:p>
            <a:pPr algn="l">
              <a:lnSpc>
                <a:spcPts val="4194"/>
              </a:lnSpc>
            </a:pPr>
          </a:p>
          <a:p>
            <a:pPr algn="l">
              <a:lnSpc>
                <a:spcPts val="4194"/>
              </a:lnSpc>
            </a:pPr>
          </a:p>
          <a:p>
            <a:pPr algn="l">
              <a:lnSpc>
                <a:spcPts val="419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0" y="8720456"/>
            <a:ext cx="61563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14083" y="1401075"/>
            <a:ext cx="2046189" cy="1119823"/>
          </a:xfrm>
          <a:custGeom>
            <a:avLst/>
            <a:gdLst/>
            <a:ahLst/>
            <a:cxnLst/>
            <a:rect r="r" b="b" t="t" l="l"/>
            <a:pathLst>
              <a:path h="1119823" w="2046189">
                <a:moveTo>
                  <a:pt x="0" y="0"/>
                </a:moveTo>
                <a:lnTo>
                  <a:pt x="2046189" y="0"/>
                </a:lnTo>
                <a:lnTo>
                  <a:pt x="2046189" y="1119823"/>
                </a:lnTo>
                <a:lnTo>
                  <a:pt x="0" y="1119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78875" y="8120531"/>
            <a:ext cx="2046189" cy="1119823"/>
          </a:xfrm>
          <a:custGeom>
            <a:avLst/>
            <a:gdLst/>
            <a:ahLst/>
            <a:cxnLst/>
            <a:rect r="r" b="b" t="t" l="l"/>
            <a:pathLst>
              <a:path h="1119823" w="2046189">
                <a:moveTo>
                  <a:pt x="0" y="0"/>
                </a:moveTo>
                <a:lnTo>
                  <a:pt x="2046189" y="0"/>
                </a:lnTo>
                <a:lnTo>
                  <a:pt x="2046189" y="1119823"/>
                </a:lnTo>
                <a:lnTo>
                  <a:pt x="0" y="1119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37985" y="1324875"/>
            <a:ext cx="7198238" cy="137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</a:pPr>
            <a:r>
              <a:rPr lang="en-US" sz="3955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</a:t>
            </a:r>
            <a:r>
              <a:rPr lang="en-US" sz="3955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ragédie historique &amp; énigme statistique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90169" y="2984449"/>
            <a:ext cx="8520609" cy="539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74"/>
              </a:lnSpc>
            </a:pPr>
            <a:r>
              <a:rPr lang="en-US" sz="276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 naufrage du Titan</a:t>
            </a:r>
            <a:r>
              <a:rPr lang="en-US" sz="276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ic (1912) a coûté la vie à 1 500 personnes. Mais au-delà du drame, les données des passagers révèlent une vérité plus nuancée.</a:t>
            </a:r>
          </a:p>
          <a:p>
            <a:pPr algn="just">
              <a:lnSpc>
                <a:spcPts val="3874"/>
              </a:lnSpc>
            </a:pPr>
            <a:r>
              <a:rPr lang="en-US" sz="276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survie était-elle aléatoire, ou prévisible ?</a:t>
            </a:r>
          </a:p>
          <a:p>
            <a:pPr algn="just">
              <a:lnSpc>
                <a:spcPts val="3874"/>
              </a:lnSpc>
            </a:pPr>
            <a:r>
              <a:rPr lang="en-US" sz="276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Grâce à l'analyse des données (classe, âge, sexe...), ce projet vise à :</a:t>
            </a:r>
          </a:p>
          <a:p>
            <a:pPr algn="just" marL="597473" indent="-298737" lvl="1">
              <a:lnSpc>
                <a:spcPts val="3874"/>
              </a:lnSpc>
              <a:buAutoNum type="arabicPeriod" startAt="1"/>
            </a:pPr>
            <a:r>
              <a:rPr lang="en-US" sz="276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Comprendre les mécanismes de survie lors de l'évacuation.</a:t>
            </a:r>
          </a:p>
          <a:p>
            <a:pPr algn="just" marL="597473" indent="-298737" lvl="1">
              <a:lnSpc>
                <a:spcPts val="3874"/>
              </a:lnSpc>
              <a:buAutoNum type="arabicPeriod" startAt="1"/>
            </a:pPr>
            <a:r>
              <a:rPr lang="en-US" sz="276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Prédire quels passagers avaient les meilleures chances d'être sauvés.</a:t>
            </a:r>
          </a:p>
          <a:p>
            <a:pPr algn="just">
              <a:lnSpc>
                <a:spcPts val="3874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737177" y="1401075"/>
            <a:ext cx="7933876" cy="79338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3417" t="0" r="-23417" b="0"/>
              </a:stretch>
            </a:blipFill>
            <a:ln w="123825" cap="sq">
              <a:solidFill>
                <a:srgbClr val="FFFFFF"/>
              </a:solidFill>
              <a:prstDash val="solid"/>
              <a:miter/>
            </a:ln>
          </p:spPr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039610" y="8194283"/>
            <a:ext cx="4937760" cy="493776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3675" y="8931990"/>
            <a:ext cx="488308" cy="117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3"/>
              </a:lnSpc>
            </a:pPr>
            <a:r>
              <a:rPr lang="en-US" sz="6902" b="true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672" y="468788"/>
            <a:ext cx="2046189" cy="1119823"/>
          </a:xfrm>
          <a:custGeom>
            <a:avLst/>
            <a:gdLst/>
            <a:ahLst/>
            <a:cxnLst/>
            <a:rect r="r" b="b" t="t" l="l"/>
            <a:pathLst>
              <a:path h="1119823" w="2046189">
                <a:moveTo>
                  <a:pt x="0" y="0"/>
                </a:moveTo>
                <a:lnTo>
                  <a:pt x="2046189" y="0"/>
                </a:lnTo>
                <a:lnTo>
                  <a:pt x="2046189" y="1119824"/>
                </a:lnTo>
                <a:lnTo>
                  <a:pt x="0" y="111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22892" y="1326097"/>
            <a:ext cx="2416547" cy="1432353"/>
          </a:xfrm>
          <a:custGeom>
            <a:avLst/>
            <a:gdLst/>
            <a:ahLst/>
            <a:cxnLst/>
            <a:rect r="r" b="b" t="t" l="l"/>
            <a:pathLst>
              <a:path h="1432353" w="2416547">
                <a:moveTo>
                  <a:pt x="0" y="0"/>
                </a:moveTo>
                <a:lnTo>
                  <a:pt x="2416547" y="0"/>
                </a:lnTo>
                <a:lnTo>
                  <a:pt x="2416547" y="1432353"/>
                </a:lnTo>
                <a:lnTo>
                  <a:pt x="0" y="143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28279" y="7011061"/>
            <a:ext cx="3649292" cy="3516590"/>
          </a:xfrm>
          <a:custGeom>
            <a:avLst/>
            <a:gdLst/>
            <a:ahLst/>
            <a:cxnLst/>
            <a:rect r="r" b="b" t="t" l="l"/>
            <a:pathLst>
              <a:path h="3516590" w="3649292">
                <a:moveTo>
                  <a:pt x="0" y="0"/>
                </a:moveTo>
                <a:lnTo>
                  <a:pt x="3649292" y="0"/>
                </a:lnTo>
                <a:lnTo>
                  <a:pt x="3649292" y="3516590"/>
                </a:lnTo>
                <a:lnTo>
                  <a:pt x="0" y="35165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49766" y="2815600"/>
            <a:ext cx="12761314" cy="744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3315" indent="-371657" lvl="1">
              <a:lnSpc>
                <a:spcPts val="3442"/>
              </a:lnSpc>
              <a:buFont typeface="Arial"/>
              <a:buChar char="•"/>
            </a:pPr>
            <a:r>
              <a:rPr lang="en-US" sz="3442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Introduction et contexte du projet</a:t>
            </a:r>
          </a:p>
          <a:p>
            <a:pPr algn="l">
              <a:lnSpc>
                <a:spcPts val="3442"/>
              </a:lnSpc>
            </a:pPr>
          </a:p>
          <a:p>
            <a:pPr algn="l" marL="743315" indent="-371657" lvl="1">
              <a:lnSpc>
                <a:spcPts val="3442"/>
              </a:lnSpc>
              <a:buFont typeface="Arial"/>
              <a:buChar char="•"/>
            </a:pPr>
            <a:r>
              <a:rPr lang="en-US" sz="3442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Chargement et exploration des données</a:t>
            </a:r>
          </a:p>
          <a:p>
            <a:pPr algn="l">
              <a:lnSpc>
                <a:spcPts val="3442"/>
              </a:lnSpc>
            </a:pPr>
          </a:p>
          <a:p>
            <a:pPr algn="l" marL="743315" indent="-371657" lvl="1">
              <a:lnSpc>
                <a:spcPts val="3442"/>
              </a:lnSpc>
              <a:buFont typeface="Arial"/>
              <a:buChar char="•"/>
            </a:pPr>
            <a:r>
              <a:rPr lang="en-US" sz="3442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Prétraitement des données</a:t>
            </a:r>
          </a:p>
          <a:p>
            <a:pPr algn="l">
              <a:lnSpc>
                <a:spcPts val="3442"/>
              </a:lnSpc>
            </a:pPr>
          </a:p>
          <a:p>
            <a:pPr algn="l" marL="743315" indent="-371657" lvl="1">
              <a:lnSpc>
                <a:spcPts val="3442"/>
              </a:lnSpc>
              <a:buFont typeface="Arial"/>
              <a:buChar char="•"/>
            </a:pPr>
            <a:r>
              <a:rPr lang="en-US" sz="3442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Analyse exploratoire des données (EDA)</a:t>
            </a:r>
          </a:p>
          <a:p>
            <a:pPr algn="l">
              <a:lnSpc>
                <a:spcPts val="3442"/>
              </a:lnSpc>
            </a:pPr>
          </a:p>
          <a:p>
            <a:pPr algn="l" marL="743315" indent="-371657" lvl="1">
              <a:lnSpc>
                <a:spcPts val="3442"/>
              </a:lnSpc>
              <a:buFont typeface="Arial"/>
              <a:buChar char="•"/>
            </a:pPr>
            <a:r>
              <a:rPr lang="en-US" sz="3442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Construction et entraînement des modèles de Machine Learning</a:t>
            </a:r>
          </a:p>
          <a:p>
            <a:pPr algn="l">
              <a:lnSpc>
                <a:spcPts val="3442"/>
              </a:lnSpc>
            </a:pPr>
          </a:p>
          <a:p>
            <a:pPr algn="l" marL="743315" indent="-371657" lvl="1">
              <a:lnSpc>
                <a:spcPts val="3442"/>
              </a:lnSpc>
              <a:buFont typeface="Arial"/>
              <a:buChar char="•"/>
            </a:pPr>
            <a:r>
              <a:rPr lang="en-US" sz="3442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Évaluation et comparaison des modèles</a:t>
            </a:r>
          </a:p>
          <a:p>
            <a:pPr algn="l">
              <a:lnSpc>
                <a:spcPts val="3442"/>
              </a:lnSpc>
            </a:pPr>
          </a:p>
          <a:p>
            <a:pPr algn="l" marL="743315" indent="-371657" lvl="1">
              <a:lnSpc>
                <a:spcPts val="3442"/>
              </a:lnSpc>
              <a:buFont typeface="Arial"/>
              <a:buChar char="•"/>
            </a:pPr>
            <a:r>
              <a:rPr lang="en-US" sz="3442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Prédictions et résultats</a:t>
            </a:r>
          </a:p>
          <a:p>
            <a:pPr algn="l">
              <a:lnSpc>
                <a:spcPts val="3442"/>
              </a:lnSpc>
            </a:pPr>
          </a:p>
          <a:p>
            <a:pPr algn="l" marL="743315" indent="-371657" lvl="1">
              <a:lnSpc>
                <a:spcPts val="3442"/>
              </a:lnSpc>
              <a:buFont typeface="Arial"/>
              <a:buChar char="•"/>
            </a:pPr>
            <a:r>
              <a:rPr lang="en-US" sz="3442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Visualisation des résultats et interface graphique</a:t>
            </a:r>
          </a:p>
          <a:p>
            <a:pPr algn="l">
              <a:lnSpc>
                <a:spcPts val="3442"/>
              </a:lnSpc>
            </a:pPr>
          </a:p>
          <a:p>
            <a:pPr algn="l" marL="743315" indent="-371657" lvl="1">
              <a:lnSpc>
                <a:spcPts val="3442"/>
              </a:lnSpc>
              <a:buFont typeface="Arial"/>
              <a:buChar char="•"/>
            </a:pPr>
            <a:r>
              <a:rPr lang="en-US" sz="3442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Conclusion et perspectives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722616" y="1202272"/>
            <a:ext cx="10671205" cy="108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3"/>
              </a:lnSpc>
            </a:pPr>
            <a:r>
              <a:rPr lang="en-US" sz="6366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Sommaire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3042778" y="8357876"/>
            <a:ext cx="4937760" cy="493776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61307" y="9084390"/>
            <a:ext cx="517845" cy="117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3"/>
              </a:lnSpc>
            </a:pPr>
            <a:r>
              <a:rPr lang="en-US" sz="6902" b="true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24350" y="6476640"/>
            <a:ext cx="6044017" cy="3810360"/>
          </a:xfrm>
          <a:custGeom>
            <a:avLst/>
            <a:gdLst/>
            <a:ahLst/>
            <a:cxnLst/>
            <a:rect r="r" b="b" t="t" l="l"/>
            <a:pathLst>
              <a:path h="3810360" w="6044017">
                <a:moveTo>
                  <a:pt x="0" y="0"/>
                </a:moveTo>
                <a:lnTo>
                  <a:pt x="6044017" y="0"/>
                </a:lnTo>
                <a:lnTo>
                  <a:pt x="6044017" y="3810360"/>
                </a:lnTo>
                <a:lnTo>
                  <a:pt x="0" y="3810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99" r="0" b="-759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51550" y="4299638"/>
            <a:ext cx="11184901" cy="108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13"/>
              </a:lnSpc>
            </a:pPr>
            <a:r>
              <a:rPr lang="en-US" sz="6366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Les étapes à suivre &gt;&gt;&gt;&gt;&gt;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123730" y="8607506"/>
            <a:ext cx="4937760" cy="493776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7212" y="9124950"/>
            <a:ext cx="545238" cy="117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3"/>
              </a:lnSpc>
            </a:pPr>
            <a:r>
              <a:rPr lang="en-US" sz="6902" b="true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63066" y="1246775"/>
            <a:ext cx="2046189" cy="1119823"/>
          </a:xfrm>
          <a:custGeom>
            <a:avLst/>
            <a:gdLst/>
            <a:ahLst/>
            <a:cxnLst/>
            <a:rect r="r" b="b" t="t" l="l"/>
            <a:pathLst>
              <a:path h="1119823" w="2046189">
                <a:moveTo>
                  <a:pt x="0" y="0"/>
                </a:moveTo>
                <a:lnTo>
                  <a:pt x="2046189" y="0"/>
                </a:lnTo>
                <a:lnTo>
                  <a:pt x="2046189" y="1119824"/>
                </a:lnTo>
                <a:lnTo>
                  <a:pt x="0" y="111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9086" y="6079775"/>
            <a:ext cx="2046189" cy="1119823"/>
          </a:xfrm>
          <a:custGeom>
            <a:avLst/>
            <a:gdLst/>
            <a:ahLst/>
            <a:cxnLst/>
            <a:rect r="r" b="b" t="t" l="l"/>
            <a:pathLst>
              <a:path h="1119823" w="2046189">
                <a:moveTo>
                  <a:pt x="0" y="0"/>
                </a:moveTo>
                <a:lnTo>
                  <a:pt x="2046189" y="0"/>
                </a:lnTo>
                <a:lnTo>
                  <a:pt x="2046189" y="1119823"/>
                </a:lnTo>
                <a:lnTo>
                  <a:pt x="0" y="1119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3256485"/>
            <a:ext cx="17259300" cy="303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1"/>
              </a:lnSpc>
            </a:pPr>
            <a:r>
              <a:rPr lang="en-US" sz="5801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</a:t>
            </a:r>
            <a:r>
              <a:rPr lang="en-US" sz="5801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rgement et exploration</a:t>
            </a:r>
          </a:p>
          <a:p>
            <a:pPr algn="ctr">
              <a:lnSpc>
                <a:spcPts val="8121"/>
              </a:lnSpc>
            </a:pPr>
            <a:r>
              <a:rPr lang="en-US" sz="5801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des données</a:t>
            </a:r>
          </a:p>
          <a:p>
            <a:pPr algn="ctr">
              <a:lnSpc>
                <a:spcPts val="8121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063066" y="6079775"/>
            <a:ext cx="6963508" cy="4114800"/>
          </a:xfrm>
          <a:custGeom>
            <a:avLst/>
            <a:gdLst/>
            <a:ahLst/>
            <a:cxnLst/>
            <a:rect r="r" b="b" t="t" l="l"/>
            <a:pathLst>
              <a:path h="4114800" w="6963508">
                <a:moveTo>
                  <a:pt x="0" y="0"/>
                </a:moveTo>
                <a:lnTo>
                  <a:pt x="6963508" y="0"/>
                </a:lnTo>
                <a:lnTo>
                  <a:pt x="6963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3064100" y="8429324"/>
            <a:ext cx="4937760" cy="493776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5459" y="9107004"/>
            <a:ext cx="527254" cy="117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3"/>
              </a:lnSpc>
            </a:pPr>
            <a:r>
              <a:rPr lang="en-US" sz="6902" b="true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13111" y="1028700"/>
            <a:ext cx="2046189" cy="1119823"/>
          </a:xfrm>
          <a:custGeom>
            <a:avLst/>
            <a:gdLst/>
            <a:ahLst/>
            <a:cxnLst/>
            <a:rect r="r" b="b" t="t" l="l"/>
            <a:pathLst>
              <a:path h="1119823" w="2046189">
                <a:moveTo>
                  <a:pt x="0" y="0"/>
                </a:moveTo>
                <a:lnTo>
                  <a:pt x="2046189" y="0"/>
                </a:lnTo>
                <a:lnTo>
                  <a:pt x="2046189" y="1119823"/>
                </a:lnTo>
                <a:lnTo>
                  <a:pt x="0" y="1119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138477"/>
            <a:ext cx="2046189" cy="1119823"/>
          </a:xfrm>
          <a:custGeom>
            <a:avLst/>
            <a:gdLst/>
            <a:ahLst/>
            <a:cxnLst/>
            <a:rect r="r" b="b" t="t" l="l"/>
            <a:pathLst>
              <a:path h="1119823" w="2046189">
                <a:moveTo>
                  <a:pt x="0" y="0"/>
                </a:moveTo>
                <a:lnTo>
                  <a:pt x="2046189" y="0"/>
                </a:lnTo>
                <a:lnTo>
                  <a:pt x="2046189" y="1119823"/>
                </a:lnTo>
                <a:lnTo>
                  <a:pt x="0" y="1119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5285347" y="7515680"/>
            <a:ext cx="1236534" cy="1245593"/>
          </a:xfrm>
          <a:custGeom>
            <a:avLst/>
            <a:gdLst/>
            <a:ahLst/>
            <a:cxnLst/>
            <a:rect r="r" b="b" t="t" l="l"/>
            <a:pathLst>
              <a:path h="1245593" w="1236534">
                <a:moveTo>
                  <a:pt x="1236535" y="0"/>
                </a:moveTo>
                <a:lnTo>
                  <a:pt x="0" y="0"/>
                </a:lnTo>
                <a:lnTo>
                  <a:pt x="0" y="1245593"/>
                </a:lnTo>
                <a:lnTo>
                  <a:pt x="1236535" y="1245593"/>
                </a:lnTo>
                <a:lnTo>
                  <a:pt x="123653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45632" y="5494268"/>
            <a:ext cx="1252425" cy="1245593"/>
          </a:xfrm>
          <a:custGeom>
            <a:avLst/>
            <a:gdLst/>
            <a:ahLst/>
            <a:cxnLst/>
            <a:rect r="r" b="b" t="t" l="l"/>
            <a:pathLst>
              <a:path h="1245593" w="1252425">
                <a:moveTo>
                  <a:pt x="0" y="0"/>
                </a:moveTo>
                <a:lnTo>
                  <a:pt x="1252425" y="0"/>
                </a:lnTo>
                <a:lnTo>
                  <a:pt x="1252425" y="1245593"/>
                </a:lnTo>
                <a:lnTo>
                  <a:pt x="0" y="12455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83301" y="5456698"/>
            <a:ext cx="1357763" cy="1320733"/>
          </a:xfrm>
          <a:custGeom>
            <a:avLst/>
            <a:gdLst/>
            <a:ahLst/>
            <a:cxnLst/>
            <a:rect r="r" b="b" t="t" l="l"/>
            <a:pathLst>
              <a:path h="1320733" w="1357763">
                <a:moveTo>
                  <a:pt x="0" y="0"/>
                </a:moveTo>
                <a:lnTo>
                  <a:pt x="1357762" y="0"/>
                </a:lnTo>
                <a:lnTo>
                  <a:pt x="1357762" y="1320733"/>
                </a:lnTo>
                <a:lnTo>
                  <a:pt x="0" y="13207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21026" y="7415225"/>
            <a:ext cx="1282311" cy="1320733"/>
          </a:xfrm>
          <a:custGeom>
            <a:avLst/>
            <a:gdLst/>
            <a:ahLst/>
            <a:cxnLst/>
            <a:rect r="r" b="b" t="t" l="l"/>
            <a:pathLst>
              <a:path h="1320733" w="1282311">
                <a:moveTo>
                  <a:pt x="0" y="0"/>
                </a:moveTo>
                <a:lnTo>
                  <a:pt x="1282312" y="0"/>
                </a:lnTo>
                <a:lnTo>
                  <a:pt x="1282312" y="1320733"/>
                </a:lnTo>
                <a:lnTo>
                  <a:pt x="0" y="13207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45707" y="5531837"/>
            <a:ext cx="228223" cy="228223"/>
          </a:xfrm>
          <a:custGeom>
            <a:avLst/>
            <a:gdLst/>
            <a:ahLst/>
            <a:cxnLst/>
            <a:rect r="r" b="b" t="t" l="l"/>
            <a:pathLst>
              <a:path h="228223" w="228223">
                <a:moveTo>
                  <a:pt x="0" y="0"/>
                </a:moveTo>
                <a:lnTo>
                  <a:pt x="228223" y="0"/>
                </a:lnTo>
                <a:lnTo>
                  <a:pt x="228223" y="228223"/>
                </a:lnTo>
                <a:lnTo>
                  <a:pt x="0" y="228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45707" y="7527934"/>
            <a:ext cx="228223" cy="228223"/>
          </a:xfrm>
          <a:custGeom>
            <a:avLst/>
            <a:gdLst/>
            <a:ahLst/>
            <a:cxnLst/>
            <a:rect r="r" b="b" t="t" l="l"/>
            <a:pathLst>
              <a:path h="228223" w="228223">
                <a:moveTo>
                  <a:pt x="0" y="0"/>
                </a:moveTo>
                <a:lnTo>
                  <a:pt x="228223" y="0"/>
                </a:lnTo>
                <a:lnTo>
                  <a:pt x="228223" y="228223"/>
                </a:lnTo>
                <a:lnTo>
                  <a:pt x="0" y="228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685144" y="5494268"/>
            <a:ext cx="228223" cy="228223"/>
          </a:xfrm>
          <a:custGeom>
            <a:avLst/>
            <a:gdLst/>
            <a:ahLst/>
            <a:cxnLst/>
            <a:rect r="r" b="b" t="t" l="l"/>
            <a:pathLst>
              <a:path h="228223" w="228223">
                <a:moveTo>
                  <a:pt x="0" y="0"/>
                </a:moveTo>
                <a:lnTo>
                  <a:pt x="228223" y="0"/>
                </a:lnTo>
                <a:lnTo>
                  <a:pt x="228223" y="228223"/>
                </a:lnTo>
                <a:lnTo>
                  <a:pt x="0" y="228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85144" y="7490365"/>
            <a:ext cx="228223" cy="228223"/>
          </a:xfrm>
          <a:custGeom>
            <a:avLst/>
            <a:gdLst/>
            <a:ahLst/>
            <a:cxnLst/>
            <a:rect r="r" b="b" t="t" l="l"/>
            <a:pathLst>
              <a:path h="228223" w="228223">
                <a:moveTo>
                  <a:pt x="0" y="0"/>
                </a:moveTo>
                <a:lnTo>
                  <a:pt x="228223" y="0"/>
                </a:lnTo>
                <a:lnTo>
                  <a:pt x="228223" y="228223"/>
                </a:lnTo>
                <a:lnTo>
                  <a:pt x="0" y="228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808398" y="1464787"/>
            <a:ext cx="12029304" cy="108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3"/>
              </a:lnSpc>
            </a:pPr>
            <a:r>
              <a:rPr lang="en-US" sz="6366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Prétraitement </a:t>
            </a:r>
            <a:r>
              <a:rPr lang="en-US" sz="6366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 données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32420" y="7425281"/>
            <a:ext cx="1517107" cy="127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7"/>
              </a:lnSpc>
            </a:pPr>
            <a:r>
              <a:rPr lang="en-US" sz="249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</a:t>
            </a:r>
            <a:r>
              <a:rPr lang="en-US" sz="249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estion des valeurs manquantes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32420" y="5579462"/>
            <a:ext cx="1684044" cy="127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7"/>
              </a:lnSpc>
            </a:pPr>
            <a:r>
              <a:rPr lang="en-US" sz="249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choix des variables à travailler avec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32604" y="5466753"/>
            <a:ext cx="1848650" cy="330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7"/>
              </a:lnSpc>
            </a:pPr>
            <a:r>
              <a:rPr lang="en-US" sz="249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Encod</a:t>
            </a:r>
            <a:r>
              <a:rPr lang="en-US" sz="249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71905" y="7143416"/>
            <a:ext cx="1909350" cy="127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7"/>
              </a:lnSpc>
            </a:pPr>
            <a:r>
              <a:rPr lang="en-US" sz="249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Normalisation</a:t>
            </a:r>
          </a:p>
          <a:p>
            <a:pPr algn="just">
              <a:lnSpc>
                <a:spcPts val="2497"/>
              </a:lnSpc>
            </a:pPr>
          </a:p>
          <a:p>
            <a:pPr algn="just">
              <a:lnSpc>
                <a:spcPts val="2497"/>
              </a:lnSpc>
            </a:pP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3300620" y="8523386"/>
            <a:ext cx="4937760" cy="493776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0" y="9107004"/>
            <a:ext cx="488308" cy="117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3"/>
              </a:lnSpc>
            </a:pPr>
            <a:r>
              <a:rPr lang="en-US" sz="6902" b="true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11650" y="4770914"/>
            <a:ext cx="8814338" cy="1591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178" indent="-269589" lvl="1">
              <a:lnSpc>
                <a:spcPts val="2497"/>
              </a:lnSpc>
              <a:buFont typeface="Arial"/>
              <a:buChar char="•"/>
            </a:pPr>
            <a:r>
              <a:rPr lang="en-US" sz="249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Sexe</a:t>
            </a:r>
          </a:p>
          <a:p>
            <a:pPr algn="just" marL="539178" indent="-269589" lvl="1">
              <a:lnSpc>
                <a:spcPts val="2497"/>
              </a:lnSpc>
              <a:buFont typeface="Arial"/>
              <a:buChar char="•"/>
            </a:pPr>
            <a:r>
              <a:rPr lang="en-US" sz="249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Clas</a:t>
            </a:r>
            <a:r>
              <a:rPr lang="en-US" sz="249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sociale</a:t>
            </a:r>
          </a:p>
          <a:p>
            <a:pPr algn="just" marL="539178" indent="-269589" lvl="1">
              <a:lnSpc>
                <a:spcPts val="2497"/>
              </a:lnSpc>
              <a:buFont typeface="Arial"/>
              <a:buChar char="•"/>
            </a:pPr>
            <a:r>
              <a:rPr lang="en-US" sz="249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Âge</a:t>
            </a:r>
          </a:p>
          <a:p>
            <a:pPr algn="just" marL="539178" indent="-269589" lvl="1">
              <a:lnSpc>
                <a:spcPts val="2497"/>
              </a:lnSpc>
              <a:buFont typeface="Arial"/>
              <a:buChar char="•"/>
            </a:pPr>
            <a:r>
              <a:rPr lang="en-US" sz="2497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 prix du billet </a:t>
            </a:r>
          </a:p>
          <a:p>
            <a:pPr algn="just">
              <a:lnSpc>
                <a:spcPts val="2497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369316" y="6484840"/>
            <a:ext cx="228223" cy="228223"/>
          </a:xfrm>
          <a:custGeom>
            <a:avLst/>
            <a:gdLst/>
            <a:ahLst/>
            <a:cxnLst/>
            <a:rect r="r" b="b" t="t" l="l"/>
            <a:pathLst>
              <a:path h="228223" w="228223">
                <a:moveTo>
                  <a:pt x="0" y="0"/>
                </a:moveTo>
                <a:lnTo>
                  <a:pt x="228223" y="0"/>
                </a:lnTo>
                <a:lnTo>
                  <a:pt x="228223" y="228222"/>
                </a:lnTo>
                <a:lnTo>
                  <a:pt x="0" y="228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11650" y="6409781"/>
            <a:ext cx="8814338" cy="1094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33"/>
              </a:lnSpc>
            </a:pPr>
            <a:r>
              <a:rPr lang="en-US" sz="2833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Dé</a:t>
            </a:r>
            <a:r>
              <a:rPr lang="en-US" sz="2833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tection de tendances</a:t>
            </a:r>
          </a:p>
          <a:p>
            <a:pPr algn="just">
              <a:lnSpc>
                <a:spcPts val="2833"/>
              </a:lnSpc>
            </a:pPr>
          </a:p>
          <a:p>
            <a:pPr algn="just">
              <a:lnSpc>
                <a:spcPts val="2833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483427" y="7587930"/>
            <a:ext cx="2046189" cy="1119823"/>
          </a:xfrm>
          <a:custGeom>
            <a:avLst/>
            <a:gdLst/>
            <a:ahLst/>
            <a:cxnLst/>
            <a:rect r="r" b="b" t="t" l="l"/>
            <a:pathLst>
              <a:path h="1119823" w="2046189">
                <a:moveTo>
                  <a:pt x="0" y="0"/>
                </a:moveTo>
                <a:lnTo>
                  <a:pt x="2046189" y="0"/>
                </a:lnTo>
                <a:lnTo>
                  <a:pt x="2046189" y="1119823"/>
                </a:lnTo>
                <a:lnTo>
                  <a:pt x="0" y="11198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935142" y="3333049"/>
            <a:ext cx="9873758" cy="987375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5000" t="0" r="-25000" b="0"/>
              </a:stretch>
            </a:blipFill>
            <a:ln w="1238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483427" y="4267577"/>
            <a:ext cx="228223" cy="228223"/>
          </a:xfrm>
          <a:custGeom>
            <a:avLst/>
            <a:gdLst/>
            <a:ahLst/>
            <a:cxnLst/>
            <a:rect r="r" b="b" t="t" l="l"/>
            <a:pathLst>
              <a:path h="228223" w="228223">
                <a:moveTo>
                  <a:pt x="0" y="0"/>
                </a:moveTo>
                <a:lnTo>
                  <a:pt x="228223" y="0"/>
                </a:lnTo>
                <a:lnTo>
                  <a:pt x="228223" y="228223"/>
                </a:lnTo>
                <a:lnTo>
                  <a:pt x="0" y="2282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84593" y="1548090"/>
            <a:ext cx="2046189" cy="1119823"/>
          </a:xfrm>
          <a:custGeom>
            <a:avLst/>
            <a:gdLst/>
            <a:ahLst/>
            <a:cxnLst/>
            <a:rect r="r" b="b" t="t" l="l"/>
            <a:pathLst>
              <a:path h="1119823" w="2046189">
                <a:moveTo>
                  <a:pt x="0" y="0"/>
                </a:moveTo>
                <a:lnTo>
                  <a:pt x="2046189" y="0"/>
                </a:lnTo>
                <a:lnTo>
                  <a:pt x="2046189" y="1119823"/>
                </a:lnTo>
                <a:lnTo>
                  <a:pt x="0" y="11198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33987" y="941081"/>
            <a:ext cx="9710911" cy="221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13"/>
              </a:lnSpc>
            </a:pPr>
            <a:r>
              <a:rPr lang="en-US" sz="6366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Analyse</a:t>
            </a:r>
            <a:r>
              <a:rPr lang="en-US" sz="6366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exploratoire des données (EDA)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30560" y="4201903"/>
            <a:ext cx="10454033" cy="109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1"/>
              </a:lnSpc>
            </a:pPr>
            <a:r>
              <a:rPr lang="en-US" sz="2871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</a:t>
            </a:r>
            <a:r>
              <a:rPr lang="en-US" sz="2871">
                <a:solidFill>
                  <a:srgbClr val="3633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alyse de la survie selon :</a:t>
            </a:r>
          </a:p>
          <a:p>
            <a:pPr algn="just">
              <a:lnSpc>
                <a:spcPts val="2871"/>
              </a:lnSpc>
            </a:pPr>
          </a:p>
          <a:p>
            <a:pPr algn="just">
              <a:lnSpc>
                <a:spcPts val="2871"/>
              </a:lnSpc>
            </a:pP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3303788" y="8680527"/>
            <a:ext cx="4937760" cy="493776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2212" y="9124950"/>
            <a:ext cx="443884" cy="117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3"/>
              </a:lnSpc>
            </a:pPr>
            <a:r>
              <a:rPr lang="en-US" sz="6902" b="true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69219" y="4569924"/>
            <a:ext cx="6564591" cy="5470493"/>
          </a:xfrm>
          <a:custGeom>
            <a:avLst/>
            <a:gdLst/>
            <a:ahLst/>
            <a:cxnLst/>
            <a:rect r="r" b="b" t="t" l="l"/>
            <a:pathLst>
              <a:path h="5470493" w="6564591">
                <a:moveTo>
                  <a:pt x="0" y="0"/>
                </a:moveTo>
                <a:lnTo>
                  <a:pt x="6564591" y="0"/>
                </a:lnTo>
                <a:lnTo>
                  <a:pt x="6564591" y="5470493"/>
                </a:lnTo>
                <a:lnTo>
                  <a:pt x="0" y="54704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27285" y="363409"/>
            <a:ext cx="13833431" cy="221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3"/>
              </a:lnSpc>
            </a:pPr>
            <a:r>
              <a:rPr lang="en-US" sz="6366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</a:t>
            </a:r>
            <a:r>
              <a:rPr lang="en-US" sz="6366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struction et entraînement des modèles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0737" y="3933558"/>
            <a:ext cx="6883082" cy="540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9"/>
              </a:lnSpc>
            </a:pPr>
            <a:r>
              <a:rPr lang="en-US" sz="4549" b="true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</a:t>
            </a:r>
            <a:r>
              <a:rPr lang="en-US" b="true" sz="4549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dèles utilisés :</a:t>
            </a:r>
          </a:p>
          <a:p>
            <a:pPr algn="l" marL="939121" indent="-469561" lvl="1">
              <a:lnSpc>
                <a:spcPts val="6089"/>
              </a:lnSpc>
              <a:buFont typeface="Arial"/>
              <a:buChar char="•"/>
            </a:pPr>
            <a:r>
              <a:rPr lang="en-US" sz="4349">
                <a:solidFill>
                  <a:srgbClr val="363332"/>
                </a:solidFill>
                <a:latin typeface="Canva Sans"/>
                <a:ea typeface="Canva Sans"/>
                <a:cs typeface="Canva Sans"/>
                <a:sym typeface="Canva Sans"/>
              </a:rPr>
              <a:t>Régression Logistique</a:t>
            </a:r>
          </a:p>
          <a:p>
            <a:pPr algn="l" marL="939121" indent="-469561" lvl="1">
              <a:lnSpc>
                <a:spcPts val="6089"/>
              </a:lnSpc>
              <a:buFont typeface="Arial"/>
              <a:buChar char="•"/>
            </a:pPr>
            <a:r>
              <a:rPr lang="en-US" sz="4349">
                <a:solidFill>
                  <a:srgbClr val="363332"/>
                </a:solidFill>
                <a:latin typeface="Canva Sans"/>
                <a:ea typeface="Canva Sans"/>
                <a:cs typeface="Canva Sans"/>
                <a:sym typeface="Canva Sans"/>
              </a:rPr>
              <a:t>KNN</a:t>
            </a:r>
          </a:p>
          <a:p>
            <a:pPr algn="l" marL="939121" indent="-469561" lvl="1">
              <a:lnSpc>
                <a:spcPts val="6089"/>
              </a:lnSpc>
              <a:buFont typeface="Arial"/>
              <a:buChar char="•"/>
            </a:pPr>
            <a:r>
              <a:rPr lang="en-US" sz="4349">
                <a:solidFill>
                  <a:srgbClr val="363332"/>
                </a:solidFill>
                <a:latin typeface="Canva Sans"/>
                <a:ea typeface="Canva Sans"/>
                <a:cs typeface="Canva Sans"/>
                <a:sym typeface="Canva Sans"/>
              </a:rPr>
              <a:t>Arbre de décision</a:t>
            </a:r>
          </a:p>
          <a:p>
            <a:pPr algn="l" marL="939121" indent="-469561" lvl="1">
              <a:lnSpc>
                <a:spcPts val="6089"/>
              </a:lnSpc>
              <a:buFont typeface="Arial"/>
              <a:buChar char="•"/>
            </a:pPr>
            <a:r>
              <a:rPr lang="en-US" sz="4349">
                <a:solidFill>
                  <a:srgbClr val="363332"/>
                </a:solidFill>
                <a:latin typeface="Canva Sans"/>
                <a:ea typeface="Canva Sans"/>
                <a:cs typeface="Canva Sans"/>
                <a:sym typeface="Canva Sans"/>
              </a:rPr>
              <a:t>Random Forest</a:t>
            </a:r>
          </a:p>
          <a:p>
            <a:pPr algn="l" marL="939121" indent="-469561" lvl="1">
              <a:lnSpc>
                <a:spcPts val="6089"/>
              </a:lnSpc>
              <a:buFont typeface="Arial"/>
              <a:buChar char="•"/>
            </a:pPr>
            <a:r>
              <a:rPr lang="en-US" sz="4349">
                <a:solidFill>
                  <a:srgbClr val="363332"/>
                </a:solidFill>
                <a:latin typeface="Canva Sans"/>
                <a:ea typeface="Canva Sans"/>
                <a:cs typeface="Canva Sans"/>
                <a:sym typeface="Canva Sans"/>
              </a:rPr>
              <a:t>Séparation Train / Test</a:t>
            </a:r>
          </a:p>
          <a:p>
            <a:pPr algn="ctr">
              <a:lnSpc>
                <a:spcPts val="6089"/>
              </a:lnSpc>
            </a:pP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151388" y="8832927"/>
            <a:ext cx="4937760" cy="493776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28163" y="9277350"/>
            <a:ext cx="536781" cy="117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3"/>
              </a:lnSpc>
            </a:pPr>
            <a:r>
              <a:rPr lang="en-US" sz="6902" b="true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79685" y="515809"/>
            <a:ext cx="13833431" cy="221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3"/>
              </a:lnSpc>
            </a:pPr>
            <a:r>
              <a:rPr lang="en-US" sz="6366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Éval</a:t>
            </a:r>
            <a:r>
              <a:rPr lang="en-US" sz="6366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uation et comparaison des modèles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057775"/>
            <a:ext cx="8432332" cy="4174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4"/>
              </a:lnSpc>
            </a:pPr>
            <a:r>
              <a:rPr lang="en-US" sz="4345" b="true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Métriques</a:t>
            </a:r>
            <a:r>
              <a:rPr lang="en-US" b="true" sz="4345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utilisées :</a:t>
            </a:r>
          </a:p>
          <a:p>
            <a:pPr algn="l" marL="839493" indent="-419746" lvl="1">
              <a:lnSpc>
                <a:spcPts val="5443"/>
              </a:lnSpc>
              <a:buFont typeface="Arial"/>
              <a:buChar char="•"/>
            </a:pPr>
            <a:r>
              <a:rPr lang="en-US" sz="3888">
                <a:solidFill>
                  <a:srgbClr val="363332"/>
                </a:solidFill>
                <a:latin typeface="Canva Sans"/>
                <a:ea typeface="Canva Sans"/>
                <a:cs typeface="Canva Sans"/>
                <a:sym typeface="Canva Sans"/>
              </a:rPr>
              <a:t>Accuracy</a:t>
            </a:r>
          </a:p>
          <a:p>
            <a:pPr algn="l" marL="839493" indent="-419746" lvl="1">
              <a:lnSpc>
                <a:spcPts val="5443"/>
              </a:lnSpc>
              <a:buFont typeface="Arial"/>
              <a:buChar char="•"/>
            </a:pPr>
            <a:r>
              <a:rPr lang="en-US" sz="3888">
                <a:solidFill>
                  <a:srgbClr val="363332"/>
                </a:solidFill>
                <a:latin typeface="Canva Sans"/>
                <a:ea typeface="Canva Sans"/>
                <a:cs typeface="Canva Sans"/>
                <a:sym typeface="Canva Sans"/>
              </a:rPr>
              <a:t>Precision</a:t>
            </a:r>
          </a:p>
          <a:p>
            <a:pPr algn="l" marL="839493" indent="-419746" lvl="1">
              <a:lnSpc>
                <a:spcPts val="5443"/>
              </a:lnSpc>
              <a:buFont typeface="Arial"/>
              <a:buChar char="•"/>
            </a:pPr>
            <a:r>
              <a:rPr lang="en-US" sz="3888">
                <a:solidFill>
                  <a:srgbClr val="363332"/>
                </a:solidFill>
                <a:latin typeface="Canva Sans"/>
                <a:ea typeface="Canva Sans"/>
                <a:cs typeface="Canva Sans"/>
                <a:sym typeface="Canva Sans"/>
              </a:rPr>
              <a:t>Recall</a:t>
            </a:r>
          </a:p>
          <a:p>
            <a:pPr algn="l" marL="839493" indent="-419746" lvl="1">
              <a:lnSpc>
                <a:spcPts val="5443"/>
              </a:lnSpc>
              <a:buFont typeface="Arial"/>
              <a:buChar char="•"/>
            </a:pPr>
            <a:r>
              <a:rPr lang="en-US" sz="3888">
                <a:solidFill>
                  <a:srgbClr val="363332"/>
                </a:solidFill>
                <a:latin typeface="Canva Sans"/>
                <a:ea typeface="Canva Sans"/>
                <a:cs typeface="Canva Sans"/>
                <a:sym typeface="Canva Sans"/>
              </a:rPr>
              <a:t>Comparaison des performances</a:t>
            </a:r>
          </a:p>
          <a:p>
            <a:pPr algn="l">
              <a:lnSpc>
                <a:spcPts val="5443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15082" y="597391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290678" y="8587930"/>
            <a:ext cx="4937760" cy="493776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0" y="9124950"/>
            <a:ext cx="488308" cy="117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3"/>
              </a:lnSpc>
            </a:pPr>
            <a:r>
              <a:rPr lang="en-US" sz="6902" b="true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921" y="140864"/>
            <a:ext cx="15452158" cy="10005272"/>
          </a:xfrm>
          <a:custGeom>
            <a:avLst/>
            <a:gdLst/>
            <a:ahLst/>
            <a:cxnLst/>
            <a:rect r="r" b="b" t="t" l="l"/>
            <a:pathLst>
              <a:path h="10005272" w="15452158">
                <a:moveTo>
                  <a:pt x="0" y="0"/>
                </a:moveTo>
                <a:lnTo>
                  <a:pt x="15452158" y="0"/>
                </a:lnTo>
                <a:lnTo>
                  <a:pt x="15452158" y="10005272"/>
                </a:lnTo>
                <a:lnTo>
                  <a:pt x="0" y="10005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108359" y="8555130"/>
            <a:ext cx="4937760" cy="493776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-427485" y="9226304"/>
            <a:ext cx="1456185" cy="91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4"/>
              </a:lnSpc>
            </a:pPr>
            <a:r>
              <a:rPr lang="en-US" sz="5374" b="true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52959" y="769365"/>
            <a:ext cx="2046189" cy="1119823"/>
          </a:xfrm>
          <a:custGeom>
            <a:avLst/>
            <a:gdLst/>
            <a:ahLst/>
            <a:cxnLst/>
            <a:rect r="r" b="b" t="t" l="l"/>
            <a:pathLst>
              <a:path h="1119823" w="2046189">
                <a:moveTo>
                  <a:pt x="0" y="0"/>
                </a:moveTo>
                <a:lnTo>
                  <a:pt x="2046189" y="0"/>
                </a:lnTo>
                <a:lnTo>
                  <a:pt x="2046189" y="1119824"/>
                </a:lnTo>
                <a:lnTo>
                  <a:pt x="0" y="111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78875" y="8120531"/>
            <a:ext cx="2046189" cy="1119823"/>
          </a:xfrm>
          <a:custGeom>
            <a:avLst/>
            <a:gdLst/>
            <a:ahLst/>
            <a:cxnLst/>
            <a:rect r="r" b="b" t="t" l="l"/>
            <a:pathLst>
              <a:path h="1119823" w="2046189">
                <a:moveTo>
                  <a:pt x="0" y="0"/>
                </a:moveTo>
                <a:lnTo>
                  <a:pt x="2046189" y="0"/>
                </a:lnTo>
                <a:lnTo>
                  <a:pt x="2046189" y="1119823"/>
                </a:lnTo>
                <a:lnTo>
                  <a:pt x="0" y="1119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50080" y="4241306"/>
            <a:ext cx="838965" cy="838965"/>
          </a:xfrm>
          <a:custGeom>
            <a:avLst/>
            <a:gdLst/>
            <a:ahLst/>
            <a:cxnLst/>
            <a:rect r="r" b="b" t="t" l="l"/>
            <a:pathLst>
              <a:path h="838965" w="838965">
                <a:moveTo>
                  <a:pt x="0" y="0"/>
                </a:moveTo>
                <a:lnTo>
                  <a:pt x="838965" y="0"/>
                </a:lnTo>
                <a:lnTo>
                  <a:pt x="838965" y="838965"/>
                </a:lnTo>
                <a:lnTo>
                  <a:pt x="0" y="838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44648" y="4602616"/>
            <a:ext cx="5314899" cy="5684384"/>
          </a:xfrm>
          <a:custGeom>
            <a:avLst/>
            <a:gdLst/>
            <a:ahLst/>
            <a:cxnLst/>
            <a:rect r="r" b="b" t="t" l="l"/>
            <a:pathLst>
              <a:path h="5684384" w="5314899">
                <a:moveTo>
                  <a:pt x="0" y="0"/>
                </a:moveTo>
                <a:lnTo>
                  <a:pt x="5314899" y="0"/>
                </a:lnTo>
                <a:lnTo>
                  <a:pt x="5314899" y="5684384"/>
                </a:lnTo>
                <a:lnTo>
                  <a:pt x="0" y="5684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78875" y="4054252"/>
            <a:ext cx="10671205" cy="108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3"/>
              </a:lnSpc>
            </a:pPr>
            <a:r>
              <a:rPr lang="en-US" sz="6366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Prédictio</a:t>
            </a:r>
            <a:r>
              <a:rPr lang="en-US" sz="6366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ns et résultats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2975405" y="8691252"/>
            <a:ext cx="4937760" cy="493776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-191593" y="9124950"/>
            <a:ext cx="1220293" cy="117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3"/>
              </a:lnSpc>
            </a:pPr>
            <a:r>
              <a:rPr lang="en-US" sz="6902" b="true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2046189" cy="1119823"/>
          </a:xfrm>
          <a:custGeom>
            <a:avLst/>
            <a:gdLst/>
            <a:ahLst/>
            <a:cxnLst/>
            <a:rect r="r" b="b" t="t" l="l"/>
            <a:pathLst>
              <a:path h="1119823" w="2046189">
                <a:moveTo>
                  <a:pt x="0" y="0"/>
                </a:moveTo>
                <a:lnTo>
                  <a:pt x="2046189" y="0"/>
                </a:lnTo>
                <a:lnTo>
                  <a:pt x="2046189" y="1119823"/>
                </a:lnTo>
                <a:lnTo>
                  <a:pt x="0" y="1119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60485" y="8138477"/>
            <a:ext cx="2046189" cy="1119823"/>
          </a:xfrm>
          <a:custGeom>
            <a:avLst/>
            <a:gdLst/>
            <a:ahLst/>
            <a:cxnLst/>
            <a:rect r="r" b="b" t="t" l="l"/>
            <a:pathLst>
              <a:path h="1119823" w="2046189">
                <a:moveTo>
                  <a:pt x="0" y="0"/>
                </a:moveTo>
                <a:lnTo>
                  <a:pt x="2046189" y="0"/>
                </a:lnTo>
                <a:lnTo>
                  <a:pt x="2046189" y="1119823"/>
                </a:lnTo>
                <a:lnTo>
                  <a:pt x="0" y="1119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17563" y="3340786"/>
            <a:ext cx="9475296" cy="5708866"/>
          </a:xfrm>
          <a:custGeom>
            <a:avLst/>
            <a:gdLst/>
            <a:ahLst/>
            <a:cxnLst/>
            <a:rect r="r" b="b" t="t" l="l"/>
            <a:pathLst>
              <a:path h="5708866" w="9475296">
                <a:moveTo>
                  <a:pt x="0" y="0"/>
                </a:moveTo>
                <a:lnTo>
                  <a:pt x="9475295" y="0"/>
                </a:lnTo>
                <a:lnTo>
                  <a:pt x="9475295" y="5708866"/>
                </a:lnTo>
                <a:lnTo>
                  <a:pt x="0" y="5708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57737" y="2024698"/>
            <a:ext cx="12181030" cy="108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13"/>
              </a:lnSpc>
            </a:pPr>
            <a:r>
              <a:rPr lang="en-US" sz="6366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interface graphique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203174" y="8102012"/>
            <a:ext cx="5299456" cy="5299456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-144316" y="9144000"/>
            <a:ext cx="1173016" cy="102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6"/>
              </a:lnSpc>
            </a:pPr>
            <a:r>
              <a:rPr lang="en-US" sz="5982" b="true">
                <a:solidFill>
                  <a:srgbClr val="3633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08075" y="1548257"/>
            <a:ext cx="2046189" cy="1119823"/>
          </a:xfrm>
          <a:custGeom>
            <a:avLst/>
            <a:gdLst/>
            <a:ahLst/>
            <a:cxnLst/>
            <a:rect r="r" b="b" t="t" l="l"/>
            <a:pathLst>
              <a:path h="1119823" w="2046189">
                <a:moveTo>
                  <a:pt x="0" y="0"/>
                </a:moveTo>
                <a:lnTo>
                  <a:pt x="2046189" y="0"/>
                </a:lnTo>
                <a:lnTo>
                  <a:pt x="2046189" y="1119824"/>
                </a:lnTo>
                <a:lnTo>
                  <a:pt x="0" y="111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736" y="7507813"/>
            <a:ext cx="2046189" cy="1119823"/>
          </a:xfrm>
          <a:custGeom>
            <a:avLst/>
            <a:gdLst/>
            <a:ahLst/>
            <a:cxnLst/>
            <a:rect r="r" b="b" t="t" l="l"/>
            <a:pathLst>
              <a:path h="1119823" w="2046189">
                <a:moveTo>
                  <a:pt x="0" y="0"/>
                </a:moveTo>
                <a:lnTo>
                  <a:pt x="2046189" y="0"/>
                </a:lnTo>
                <a:lnTo>
                  <a:pt x="2046189" y="1119823"/>
                </a:lnTo>
                <a:lnTo>
                  <a:pt x="0" y="1119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31352" y="4512836"/>
            <a:ext cx="3825295" cy="4114800"/>
          </a:xfrm>
          <a:custGeom>
            <a:avLst/>
            <a:gdLst/>
            <a:ahLst/>
            <a:cxnLst/>
            <a:rect r="r" b="b" t="t" l="l"/>
            <a:pathLst>
              <a:path h="4114800" w="3825295">
                <a:moveTo>
                  <a:pt x="0" y="0"/>
                </a:moveTo>
                <a:lnTo>
                  <a:pt x="3825296" y="0"/>
                </a:lnTo>
                <a:lnTo>
                  <a:pt x="38252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72536" y="8491614"/>
            <a:ext cx="3717267" cy="1533373"/>
          </a:xfrm>
          <a:custGeom>
            <a:avLst/>
            <a:gdLst/>
            <a:ahLst/>
            <a:cxnLst/>
            <a:rect r="r" b="b" t="t" l="l"/>
            <a:pathLst>
              <a:path h="1533373" w="3717267">
                <a:moveTo>
                  <a:pt x="0" y="0"/>
                </a:moveTo>
                <a:lnTo>
                  <a:pt x="3717267" y="0"/>
                </a:lnTo>
                <a:lnTo>
                  <a:pt x="3717267" y="1533372"/>
                </a:lnTo>
                <a:lnTo>
                  <a:pt x="0" y="1533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38771" y="2496631"/>
            <a:ext cx="1542052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633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DAG87aM3rRg</dc:identifier>
  <dcterms:modified xsi:type="dcterms:W3CDTF">2011-08-01T06:04:30Z</dcterms:modified>
  <cp:revision>1</cp:revision>
  <dc:title>Beige White and Dark Grey Neutral Professional Clean Modern Data Analysis Presentation</dc:title>
</cp:coreProperties>
</file>